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27"/>
    <p:sldId id="277" r:id="rId28"/>
    <p:sldId id="266" r:id="rId12"/>
    <p:sldId id="267" r:id="rId13"/>
    <p:sldId id="268" r:id="rId14"/>
    <p:sldId id="278" r:id="rId29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7315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4572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7315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4572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7315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4572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01200" y="7315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Noesis.io Health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6B6D4"/>
                </a:solidFill>
              </a:rPr>
              <a:t>Intelligent Healthcare Revenue Management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Powered by Athena Core Technologies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The Broken Provider-Payer Relationship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$262B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Lost annually to claim denials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0" y="182880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18 days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2080" y="3474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Average payment cycle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601200" y="182880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35%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84080" y="3474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Of staff time on insurance admin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A $47B Market Ready for Disruption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$22B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RCM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51960" y="1645920"/>
            <a:ext cx="2286000" cy="2743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$8B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5196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Prior Auth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2286000" cy="2743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$7B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Payer Comms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098280" y="1645920"/>
            <a:ext cx="2286000" cy="2743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$5B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09828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Eligibility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1521440" y="1645920"/>
            <a:ext cx="2286000" cy="2743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144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$5B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2144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Contract Mgmt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6B6D4"/>
                </a:solidFill>
              </a:rPr>
              <a:t>14.2% CAGR through 2030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One Platform. Complete Provider-Payer Intelligence.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5603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💰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Claims &amp; Billing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5603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📋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9184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Prior Authorization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25603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💬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3504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Secure Messaging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86800" y="1828800"/>
            <a:ext cx="25603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🛡️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Eligibility Verification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1430000" y="1828800"/>
            <a:ext cx="25603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📄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2144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Contract Management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Built for Both Sides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Provider Portal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Real-time claim status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Streamlined claims review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Denial management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2080" y="1371600"/>
            <a:ext cx="438912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Payer Portal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Prior auth automation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0" y="2697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Patient eligibility lookup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640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Eligibility management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966960" y="1371600"/>
            <a:ext cx="420624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Connected Intelligence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24128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Payer communication hub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241280" y="2697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Provider communication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24128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Revenue analytics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24128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• Compliance monitoring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Intelligent Workflow Engine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1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194560" y="1920240"/>
            <a:ext cx="54864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Submit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Claims enter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the system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31920" y="164592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2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54864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Verify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Eligibility &amp;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rules checked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3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315200" y="1920240"/>
            <a:ext cx="54864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Process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6480" y="3108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Intelligent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workflow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052560" y="164592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4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6968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Reconcile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86800" y="3108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Match funds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to accounts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See Noesis.io Health in Action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411480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Dashboard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88920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9184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794760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29768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64592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645920"/>
            <a:ext cx="41148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Claims View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12080" y="228600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2788920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2080" y="329184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3794760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429768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0" y="164592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645920"/>
            <a:ext cx="41148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Messaging Interface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2788920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29184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3794760"/>
            <a:ext cx="256032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0" y="4297680"/>
            <a:ext cx="3200400" cy="274320"/>
          </a:xfrm>
          <a:prstGeom prst="rect">
            <a:avLst/>
          </a:prstGeom>
          <a:solidFill>
            <a:srgbClr val="47556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Why Noesis.io Health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2004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62%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Reduction in denials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31920" y="1645920"/>
            <a:ext cx="32004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100%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0" y="31089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Real-Time Payer Intelligence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06640" y="1645920"/>
            <a:ext cx="32004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Instant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0" y="31089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AI-Powered Denial Prevention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0881360" y="1645920"/>
            <a:ext cx="32004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Unified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064240" y="31089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End provider-payer phone tag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Enterprise-Grade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9260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99.99%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Uptime SLA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0" y="1828800"/>
            <a:ext cx="29260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HIPAA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76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Compliant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29260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SOC 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8096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Type II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0881360" y="1828800"/>
            <a:ext cx="29260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HL7 FHIR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06424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R4 Native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Tech Stack: Cloud-native microservices • EDI gateway • Real-time event processing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Enterprise-Grade Security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10896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🛡️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HIPAA Compliant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Enterprise-grade protection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31920" y="1645920"/>
            <a:ext cx="310896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🔒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SOC 2 Type II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4800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Enterprise-grade protection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0" y="1645920"/>
            <a:ext cx="310896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🔌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9808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HL7 FHIR R4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98080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Enterprise-grade protection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698480" y="1645920"/>
            <a:ext cx="310896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🔑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88136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256-bit Encryption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881360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Enterprise-grade protection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Early Traction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10896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12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Provider Groups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(Pilot)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23360" y="1645920"/>
            <a:ext cx="310896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3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06240" y="2834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Major Payers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Connected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06640" y="1645920"/>
            <a:ext cx="310896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$4.2M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0" y="2834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Claims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Processed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0789920" y="1645920"/>
            <a:ext cx="310896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62%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72800" y="2834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Denial Rate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Reduction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Growth Trajectory: M1: 10% | M2: 15% | M3: 22% | M4: 35% | M5: 48% | M6: 62%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From Frustration to Flow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94A3B8"/>
                </a:solidFill>
              </a:rPr>
              <a:t>BEFORE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❌ 5 disconnected systems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❌ 18-day payment cycle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❌ 23% denial rate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6400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AFTER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55280" y="22860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6B6D4"/>
                </a:solidFill>
              </a:rPr>
              <a:t>✓ 1 unified platform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55280" y="3063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6B6D4"/>
                </a:solidFill>
              </a:rPr>
              <a:t>✓ 7-day payment cycle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55280" y="38404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6B6D4"/>
                </a:solidFill>
              </a:rPr>
              <a:t>✓ 8% denial rate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949440" y="3017520"/>
            <a:ext cx="7315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834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EA5E9"/>
                </a:solidFill>
              </a:rPr>
              <a:t>→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Competitive Advantage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Noesis.io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Waystar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Availity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952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Change HC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6696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Epic MyChart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Claims Management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4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208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6696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Prior Auth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3464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1208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895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9669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Real-time Messaging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3464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20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8952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6696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AI Denial Prevention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3464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✓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1208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8952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96696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Unified Platform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3464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120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8952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6696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FHIR Native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83464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1208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58952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96696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475569"/>
                </a:solidFill>
              </a:rPr>
              <a:t>○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Revenue Model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Essentials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$499/mo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5 provider accounts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Professional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$999/mo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0352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20 provider accounts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509760" y="164592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Enterprise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0976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Custom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8408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Unlimited accounts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51206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Revenue Mix: SaaS Subscriptions (70%) | Transaction Fees (20%) | Professional Services (10%)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Proven ROI: Regional Health Partners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45-provider multi-specialty group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Implemented Noesis.io Health to streamline claims processing and reduce denials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6858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554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Results (Year 1):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6B6D4"/>
                </a:solidFill>
              </a:rPr>
              <a:t>✓ 62% fewer denials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98080" y="25146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6B6D4"/>
                </a:solidFill>
              </a:rPr>
              <a:t>✓ 58% faster payments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808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6B6D4"/>
                </a:solidFill>
              </a:rPr>
              <a:t>✓ $1.2M recovered revenue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389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94A3B8"/>
                </a:solidFill>
              </a:rPr>
              <a:t>Denial Rate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28% → 11%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120640" y="3474720"/>
            <a:ext cx="4389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94A3B8"/>
                </a:solidFill>
              </a:rPr>
              <a:t>Payment Cycle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3520" y="4114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19 days → 8 days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784080" y="3474720"/>
            <a:ext cx="438912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ROI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966960" y="40233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340%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966960" y="4663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 first 12 months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Strategic Partnerships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658368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830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EHR Partners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Epic, Cerner, Athenahealth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406640" y="1645920"/>
            <a:ext cx="658368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7830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Clearinghouses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9520" y="22402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Change Healthcare, Availity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658368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8B5CF6"/>
                </a:solidFill>
              </a:rPr>
              <a:t>Cloud Infrastructure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AWS Healthcare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06640" y="3474720"/>
            <a:ext cx="658368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36118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Compliance &amp; Audit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95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Coalfire (SOC 2)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Go-to-Market Strategy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365760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Phase 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Direct Sales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Months 1-6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0" y="1828800"/>
            <a:ext cx="365760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Phase 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Channel Partnerships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208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Months 6-12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144000" y="1828800"/>
            <a:ext cx="365760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Phase 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2688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Enterprise Expansion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2688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Year 2+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Financial Projections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94A3B8"/>
                </a:solidFill>
              </a:rPr>
              <a:t>Year 1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120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94A3B8"/>
                </a:solidFill>
              </a:rPr>
              <a:t>Year 2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381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94A3B8"/>
                </a:solidFill>
              </a:rPr>
              <a:t>Year 3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0" y="4127269"/>
            <a:ext cx="1645920" cy="26185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$2.1M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69280" y="3329247"/>
            <a:ext cx="1645920" cy="10598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$8.5M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95360" y="1645920"/>
            <a:ext cx="1645920" cy="2743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6B6D4"/>
                </a:solidFill>
              </a:rPr>
              <a:t>$22M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Cumulative revenue trajectory tracking towards sustainable growth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Leadership Team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8404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828800"/>
            <a:ext cx="1828800" cy="182880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👤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Founder &amp; CEO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728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Healthcare Tech Veteran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4800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15+ years RCM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20640" y="1645920"/>
            <a:ext cx="38404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28800"/>
            <a:ext cx="1828800" cy="182880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👤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352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CTO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352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Cloud Architecture Expert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03520" y="4800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AWS Healthcare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1645920"/>
            <a:ext cx="38404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0" y="1828800"/>
            <a:ext cx="1828800" cy="182880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33272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👤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0976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A5E9"/>
                </a:solidFill>
              </a:rPr>
              <a:t>COO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0976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Operations Leader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09760" y="4800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Scale-ups &amp; Enterprise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68580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71323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68580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71323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0" y="68580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0" y="71323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0" y="685800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0" y="7132320"/>
            <a:ext cx="27432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The Future of Healthcare Revenue Management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6B6D4"/>
                </a:solidFill>
              </a:rPr>
              <a:t>Let's transform the provider-payer relationship together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29200" y="4754880"/>
            <a:ext cx="457200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4754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Let's Talk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EA5E9"/>
                </a:solidFill>
              </a:rPr>
              <a:t>hello@noesis.io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Built-In Guardrails That Prevent Revenue 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2560320" cy="3200400"/>
          </a:xfrm>
          <a:prstGeom prst="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Automated HIPAA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Real-time compliance scoring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Breach notification automation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PHI access pattern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94% Compliance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280160"/>
            <a:ext cx="2560320" cy="3200400"/>
          </a:xfrm>
          <a:prstGeom prst="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Pre-Submission Claim Validation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NCCI edit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Medical necessity screening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Denial prediction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96.2% Clean Claim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560320" cy="3200400"/>
          </a:xfrm>
          <a:prstGeom prst="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Financial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Financial Anomaly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Duplicate claim prevention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Under/over-payment alerts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Billing pattern benchmarking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$1.8M Saved Annually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Enterprise Security, Healthcare 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384048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Zero Trust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MFA enforcement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RBAC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Session management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SSO (Okta, Azure 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84048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Data Fortress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745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AES-256 encryption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TLS 1.3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PHI masking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Breach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384048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Real-time anomaly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Auto IP blocking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DDoS protection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API rate limiting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566160"/>
            <a:ext cx="384048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Immutable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0690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7-year log retention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Cryptographic chaining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SIEM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E2E8F0"/>
                </a:solidFill>
                <a:latin typeface="Arial"/>
              </a:defRPr>
            </a:pPr>
            <a:r>
              <a:t>• Compliance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6B6D4"/>
                </a:solidFill>
                <a:latin typeface="Arial"/>
              </a:defRPr>
            </a:pPr>
            <a:r>
              <a:t>HIPAA | SOC 2 Type II | HITRUST | 99.99% Uptime SLA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Built-In Growth That Scales With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2560320" cy="3657600"/>
          </a:xfrm>
          <a:prstGeom prst="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Acquire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Provider Acquisition Pipeline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Leads: 340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Demos: 89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Trials: 34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Customers: 12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Embeddable ROI Calculator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Referral Tracking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280160"/>
            <a:ext cx="2560320" cy="3657600"/>
          </a:xfrm>
          <a:prstGeom prst="rect">
            <a:avLst/>
          </a:prstGeom>
          <a:solidFill>
            <a:srgbClr val="1E293B"/>
          </a:solidFill>
          <a:ln w="381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  <a:latin typeface="Arial Black"/>
              </a:defRPr>
            </a:pPr>
            <a:r>
              <a:t>Engage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In-App Growth Engine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Feature Adoption Analytics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Churn Prediction AI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Upsell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2560320" cy="3657600"/>
          </a:xfrm>
          <a:prstGeom prst="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Arial Black"/>
              </a:defRPr>
            </a:pPr>
            <a:r>
              <a:t>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Payer Network Growth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6 Major Payers Connected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22 States Covered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Partnership Pipeline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Arial Black"/>
              </a:defRPr>
            </a:pPr>
            <a:r>
              <a:t>Network Coverage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EA5E9"/>
                </a:solidFill>
                <a:latin typeface="Arial Black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2026-04-12T21:38:17Z</dcterms:created>
  <dcterms:modified xsi:type="dcterms:W3CDTF">2026-04-12T21:38:17Z</dcterms:modified>
</cp:coreProperties>
</file>